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630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GOVERNANCE &amp; QUANTITATIVE ANALYTICS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population exclusion waterfalls, quantitative case scoping, and real-time audit governance for regulatory remediations.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3108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Dual-Persona Governance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FRC Compliance + Data Analytics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4023360"/>
            <a:ext cx="3108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Funnel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Count to In-Scope 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4023360"/>
            <a:ext cx="3108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Audit Finding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Immutable, timestamped event ledger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For Executive &amp;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PROBLEM &amp;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 Cost of Unstructured Remediation Scoping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remediations and portfolio reconciliations face severe operational and audit risks.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828800"/>
            <a:ext cx="1645920" cy="27432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AUDIT 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Sprawl &amp; Version Breakage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 waterfalls are kept in desktop Excel workbooks with complex macros. Multiple versions circulate via email, causing loss of data provenance.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1645920" cy="274320"/>
          </a:xfrm>
          <a:prstGeom prst="round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FRICTION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"Policy to SQL" Translation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FRC Compliance writes legalistic rule policies, while Data Analysts write SQL scripts. Without a shared medium, interpretation mismatches cause invalid exclusions.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14800"/>
            <a:ext cx="1645920" cy="274320"/>
          </a:xfrm>
          <a:prstGeom prst="round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PENALTY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Audit Trails &amp; Regulatory Exposure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examiners or internal auditors request proof of why 50,000 customer accounts were excluded, finding the signed-off rationale takes weeks of email forensics.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8404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4114800"/>
            <a:ext cx="1645920" cy="2743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SLIPPAGE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Scope Delays &amp; Un-notified Changes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892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FRC owner alters a business rule midway through a remediation, downstream analysts frequently continue executing on stale criteria without 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 &amp;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Source of Truth for Population Waterfalls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bridges First-Line Risk and Data Analytics in a governed, unified workspace.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Rule Formulation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FRC Owners formulate step-by-step exclusion logic, attach official business rationales, and set scope boundaries without writing code.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Standardized governance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Excel export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Execution &amp; Verification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link data lake datasets, execute SQL queries, calculate deduplicated accounts vs records, and model working days.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Standardized governance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Excel export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3816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Ledger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parameter change, finalization, or modification records actor identity, timestamp, and field differences for instant regulatory defense.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Standardized governance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Excel export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Dual-Persona Synchronization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handoff friction by giving Compliance and Analytics specialized interfaces over identical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1: FRC REQUIREMENT OWNER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Compliance Formulation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Sets Governance Identifiers (COE#, eGRC# ticket, Portfolio)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Defines Starting Population parameters &amp; bounds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Formulates Step Criteria &amp; detailed Business Rationale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Triggers Finalize Requirement to alert stakeholders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Initiates Modify Requirement flow when policies evolve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2: QUANTITATIVE DATA ANALYST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Execution &amp; Counting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Unlocks step via dedicated "Start Analytics" trigger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Links Data Artifacts (SQL scripts, S3/GCS data lake locations)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Inputs empirical Record Counts &amp; Unique Account Counts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Calculates net retained population and working days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Certifies completion and submits deliverable packet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DEEP DIVE: PERSONA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FRC Formulation Workspace &amp; Scoping Controls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Compliance Leads to formulate defensible rules with zero technical friction.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5943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Mockup: FRC Scoping Workspace (Sarah Jenkins)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5577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317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Details  [ Edit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COE#: COE-2026-8891  |  eGRC#: eGRC-REQ-4421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 Retail Loan Interest Calculation Variance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FRC Owner: Sarah Jenkins  |  Analyst: Alex Morgan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5577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11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Starting Population — All Retail Loans FY24-FY26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Starting Population  |  Status: Finalized (Green)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Rationale: Identifies all closed and active retail lending products in the core ledger impacted by rate table index updates.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Buttons: [ Finalize Requirement ]  [ Modify Requirement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Details Governance Registry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visibility of regulatory identifiers (COE, eGRC) and assigned owners across all views.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Progress Ribbon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counters for Total Steps, Draft, In Modification, and Finalized milestones.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Scoping Parameters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forms capture Step Categories (Exclusion, Inclusion, Starting), Rationale, and Target Timelines.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Alert Dispatcher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5212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Finalizing or modifying a requirement immediately triggers email notifications to PM, Analyst,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DEEP DIVE: PERSONA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Analyst Execution &amp; Validation Workspace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technical data teams to register code, track counts, and submit defensible packets.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5943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Mockup: Analyst Workspace (Alex Morgan)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557784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68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All Retail Loans FY24-FY26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1: FRC Rule Rationale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table index misalignment identified across credit union accounts.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2: Quantitative Counts &amp; Verification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Starting Records: 1,450,000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 Accounts: 850,000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Days: 3.5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Artifact: /lake/core_loans_redress_v1.sql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3: Schedule &amp; Sign-Off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Status: Certified by Alex Morgan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Deliverables: [ Complete Analysis Packet 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"Start Analytics" Trigger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1920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premature analytics execution by locking quantitative fields until the FRC rule is finalized.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Tri-Metric Counting Rigor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Excluded Records from Unique Customer Accounts to prevent duplicate redress disbursements.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Artifact Provenance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repository and file path links (SQL, S3 buckets, Databricks tables) registered directly on the step.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Schedule &amp; Effort Calculator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5212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computes total net working days and identifies critical path constraints.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Retention Funnel &amp; Rollup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executives and auditors with an instant macro-view of population reductions.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303520" cy="68580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 Gross Population (1,450,000 Accounts)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2606040"/>
            <a:ext cx="4389120" cy="685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743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Exclude: Closed Prior to 2024 (- 320,000 Accounts)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3474720"/>
            <a:ext cx="3657600" cy="6858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Exclude: Commercial &amp; Institutional (- 180,000 Accounts)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4343400"/>
            <a:ext cx="2926080" cy="685800"/>
          </a:xfrm>
          <a:prstGeom prst="round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4480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Exclude: Zero Impact / Neutral Rate (- 95,000 Accounts)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5212080"/>
            <a:ext cx="2377440" cy="6858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Final In-Scope Remediation Population (855,000 Accounts)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22860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EXCLUDED ACCOUNTS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6656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595,000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-41.0% of starting pool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1828800"/>
            <a:ext cx="22860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IN-SCOPE REDRESS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3544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855,000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3544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59.0% verified retention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3931920"/>
            <a:ext cx="22860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NET WORKING DAYS SAVED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 Days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automated scoping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3931920"/>
            <a:ext cx="22860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REGULATOR-READY EXCEL EXPORT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23544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3544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formatted .xlsx workbook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Audit Trail &amp; Regulatory Change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is recorded in an immutable ledger with full actor accountability.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&amp;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Description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2026-09-19 13:42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Sarah Jenkins (FRC)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Updated step 3 exclusion criteria to cover inactive products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2026-09-19 12:15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 Finalized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Sarah Jenkins (FRC)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Finalized step 1 baseline starting population and dispatched alert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2026-09-19 10:30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Morgan (Analyst)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SQL execution on core_loans_redress_v1 (855k accounts)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2026-09-19 09:00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Initialized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Administrator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Initialized project COE-2026-8891 / eGRC-REQ-4421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Tampering Guarantee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records cannot be purged or manually overwritten, satisfying SEC, OCC, and CFPB recordkeeping mandates.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57200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Difference Tracking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0560" y="5074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before-and-after values for titles, rationale text, count metrics, and assigned owners.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0" y="457200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Stakeholder Dispatch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0" y="5074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email alert triggers whenever steps transition from Draft to Finalized or In Modification.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Tangible Business &amp; Compliance Returns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measurable operational efficiencies and eliminates regulatory enforcement exposure.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9144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Defensibility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examination findings caused by missing exclusion justifications or undocumented population drops.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920240"/>
            <a:ext cx="9144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9476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Scoping Pacing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320040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weeks of email ping-pong and manual reconciliation meetings with a streamlined, structured pipeline.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920240"/>
            <a:ext cx="914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Redress Leakage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account deduplication prevents over-remediation payouts to ineligible customers and under-remediation penalties.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1920240"/>
            <a:ext cx="9144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97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Visibility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320040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leadership, compliance officers, and project managers share an unassailable live operational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Scalable Enterprise Tech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maximum reliability, speed, type safety, and zero deployment friction.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Waterfalls | Executive Pitch &amp; Product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FRONTEND 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&amp; TypeScript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end-to-end typing, robust state isolation, and performant component modularity.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BUNDLING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6 &amp; ESBuild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cold starts, lightning-fast compilation, and optimized lightweight distributions.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&amp; UI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 &amp; Lucide Icons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accessible typography, ergonomic layout scales, and vector iconography.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EXPORT ENGINES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SheetJS (xlsx) &amp; PptxGenJS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generation of regulator-ready Excel workbooks and executive PowerPoint decks.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VISUALIZATION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&amp; Dynamic SVG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population deduction funnels, real-time variance, and progress tracking.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57200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 &amp; GitHub Pages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preview environments paired with continuous production delivery.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Regulatory Compliance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Traceable Waterfalls - Executive Pitch</dc:title>
  <dc:subject>PptxGenJS Presentation</dc:subject>
  <dc:creator>Traceable Waterfalls Governance &amp; Analytics</dc:creator>
  <cp:lastModifiedBy>Traceable Waterfalls Governance &amp; Analytics</cp:lastModifiedBy>
  <cp:revision>1</cp:revision>
  <dcterms:created xsi:type="dcterms:W3CDTF">2026-09-19T15:27:23Z</dcterms:created>
  <dcterms:modified xsi:type="dcterms:W3CDTF">2026-09-19T15:27:23Z</dcterms:modified>
</cp:coreProperties>
</file>